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Predicting WTI Crude Oil Price Changes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Monthly &amp; Weekly Analysis with Lagged Predictors</a:t>
            </a:r>
          </a:p>
          <a:p/>
          <a:p>
            <a:r>
              <a:t>MFIN8852.01 — Financial Econometrics</a:t>
            </a:r>
          </a:p>
          <a:p>
            <a:r>
              <a:t>[Your Name(s)]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C3E50"/>
                </a:solidFill>
              </a:rPr>
              <a:t>Hypothesis &amp;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t>Can lagged macro/financial variables predict WTI % changes?</a:t>
            </a:r>
          </a:p>
          <a:p>
            <a:pPr>
              <a:spcAft>
                <a:spcPts val="400"/>
              </a:spcAft>
              <a:defRPr sz="1800"/>
            </a:pPr>
            <a:r>
              <a:t>Using X(t-1) to predict WTI(t) — a true forecasting model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Monthly: 419 obs  |  Weekly: 972 obs  |  Dec 1990 – Dec 2025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Predictors in 3 categories:</a:t>
            </a:r>
          </a:p>
          <a:p>
            <a:pPr>
              <a:spcAft>
                <a:spcPts val="400"/>
              </a:spcAft>
              <a:defRPr sz="1800"/>
            </a:pPr>
            <a:r>
              <a:t>   Energy: heating oil, nat gas, crude stocks, SPR, refinery util</a:t>
            </a:r>
          </a:p>
          <a:p>
            <a:pPr>
              <a:spcAft>
                <a:spcPts val="400"/>
              </a:spcAft>
              <a:defRPr sz="1800"/>
            </a:pPr>
            <a:r>
              <a:t>   Financial: S&amp;P 500, VIX/OVX, gold, copper, DXY, 10Y Treasury</a:t>
            </a:r>
          </a:p>
          <a:p>
            <a:pPr>
              <a:spcAft>
                <a:spcPts val="400"/>
              </a:spcAft>
              <a:defRPr sz="1800"/>
            </a:pPr>
            <a:r>
              <a:t>   Macro: industrial production, global econ activity, GPR index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[INSERT: Correlation heatmap from notebook]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C3E50"/>
                </a:solidFill>
              </a:rPr>
              <a:t>OLS Results — Lagged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t>Monthly:  Adj. R² = 0.053  (2 significant lagged predictors)</a:t>
            </a:r>
          </a:p>
          <a:p>
            <a:pPr>
              <a:spcAft>
                <a:spcPts val="400"/>
              </a:spcAft>
              <a:defRPr sz="1800"/>
            </a:pPr>
            <a:r>
              <a:t>   → 10Y Treasury yield change (p = 0.004 under HAC)</a:t>
            </a:r>
          </a:p>
          <a:p>
            <a:pPr>
              <a:spcAft>
                <a:spcPts val="400"/>
              </a:spcAft>
              <a:defRPr sz="1800"/>
            </a:pPr>
            <a:r>
              <a:t>   → Industrial production (p = 0.28 under HAC — marginal)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Weekly:   Adj. R² = 0.018  (5 significant lagged predictors)</a:t>
            </a:r>
          </a:p>
          <a:p>
            <a:pPr>
              <a:spcAft>
                <a:spcPts val="400"/>
              </a:spcAft>
              <a:defRPr sz="1800"/>
            </a:pPr>
            <a:r>
              <a:t>   → 10Y Treasury, refinery utilization, crude stocks,</a:t>
            </a:r>
          </a:p>
          <a:p>
            <a:pPr>
              <a:spcAft>
                <a:spcPts val="400"/>
              </a:spcAft>
              <a:defRPr sz="1800"/>
            </a:pPr>
            <a:r>
              <a:t>     copper, 10Y Treasury diff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Low R² is the RIGHT answer with lagged predictors:</a:t>
            </a:r>
          </a:p>
          <a:p>
            <a:pPr>
              <a:spcAft>
                <a:spcPts val="400"/>
              </a:spcAft>
              <a:defRPr sz="1800"/>
            </a:pPr>
            <a:r>
              <a:t>   WTI returns are hard to predict from last period's data</a:t>
            </a:r>
          </a:p>
          <a:p>
            <a:pPr>
              <a:spcAft>
                <a:spcPts val="400"/>
              </a:spcAft>
              <a:defRPr sz="1800"/>
            </a:pPr>
            <a:r>
              <a:t>   → consistent with market efficiency</a:t>
            </a:r>
          </a:p>
          <a:p>
            <a:pPr>
              <a:spcAft>
                <a:spcPts val="400"/>
              </a:spcAft>
              <a:defRPr sz="1800"/>
            </a:pPr>
            <a:r>
              <a:t>   → BUT: volatility is predictable (see GARCH results)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C3E50"/>
                </a:solidFill>
              </a:rPr>
              <a:t>Testing the 5 CLRM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t>#   Assumption              Test              Monthly      Weekly</a:t>
            </a:r>
          </a:p>
          <a:p>
            <a:pPr>
              <a:spcAft>
                <a:spcPts val="400"/>
              </a:spcAft>
              <a:defRPr sz="1800"/>
            </a:pPr>
            <a: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400"/>
              </a:spcAft>
              <a:defRPr sz="1800"/>
            </a:pPr>
            <a:r>
              <a:t>1   E(εₜ) = 0               Constant          ✓ OK         ✓ OK</a:t>
            </a:r>
          </a:p>
          <a:p>
            <a:pPr>
              <a:spcAft>
                <a:spcPts val="400"/>
              </a:spcAft>
              <a:defRPr sz="1800"/>
            </a:pPr>
            <a:r>
              <a:t>2   Var(εₜ) = σ²            Breusch-Pagan     ✗ p=0.000    ✗ p=0.000</a:t>
            </a:r>
          </a:p>
          <a:p>
            <a:pPr>
              <a:spcAft>
                <a:spcPts val="400"/>
              </a:spcAft>
              <a:defRPr sz="1800"/>
            </a:pPr>
            <a:r>
              <a:t>3   Cov(εᵢ,εⱼ) = 0         DW / BG           ✓ OK         ✓ OK</a:t>
            </a:r>
          </a:p>
          <a:p>
            <a:pPr>
              <a:spcAft>
                <a:spcPts val="400"/>
              </a:spcAft>
              <a:defRPr sz="1800"/>
            </a:pPr>
            <a:r>
              <a:t>4   Cov(xₜ,εₜ) = 0         Lagged X          ✓ by design  ✓ by design</a:t>
            </a:r>
          </a:p>
          <a:p>
            <a:pPr>
              <a:spcAft>
                <a:spcPts val="400"/>
              </a:spcAft>
              <a:defRPr sz="1800"/>
            </a:pPr>
            <a:r>
              <a:t>5   εₜ ~ N(0,σ²)           Jarque-Bera       ✗ JB=516     ✗ JB=927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Also: ARCH-LM → p = 0.000 at both frequencies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Fixes applied:</a:t>
            </a:r>
          </a:p>
          <a:p>
            <a:pPr>
              <a:spcAft>
                <a:spcPts val="400"/>
              </a:spcAft>
              <a:defRPr sz="1800"/>
            </a:pPr>
            <a:r>
              <a:t>   → Newey-West (HAC) standard errors for Assumption 2</a:t>
            </a:r>
          </a:p>
          <a:p>
            <a:pPr>
              <a:spcAft>
                <a:spcPts val="400"/>
              </a:spcAft>
              <a:defRPr sz="1800"/>
            </a:pPr>
            <a:r>
              <a:t>   → GARCH + Student-t for Assumptions 2 &amp; 5 + ARCH effects</a:t>
            </a:r>
          </a:p>
          <a:p>
            <a:pPr>
              <a:spcAft>
                <a:spcPts val="400"/>
              </a:spcAft>
              <a:defRPr sz="1800"/>
            </a:pPr>
            <a:r>
              <a:t>   → Lagged predictors satisfy Assumption 4 by construction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C3E50"/>
                </a:solidFill>
              </a:rPr>
              <a:t>Residual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t>[INSERT: 4-panel residual plot from notebook]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   Top-left: Residuals over time — no obvious pattern ✓</a:t>
            </a:r>
          </a:p>
          <a:p>
            <a:pPr>
              <a:spcAft>
                <a:spcPts val="400"/>
              </a:spcAft>
              <a:defRPr sz="1800"/>
            </a:pPr>
            <a:r>
              <a:t>   Top-right: Histogram — fat tails visible vs. normal overlay</a:t>
            </a:r>
          </a:p>
          <a:p>
            <a:pPr>
              <a:spcAft>
                <a:spcPts val="400"/>
              </a:spcAft>
              <a:defRPr sz="1800"/>
            </a:pPr>
            <a:r>
              <a:t>   Bottom-left: ACF of residuals — minimal autocorrelation ✓</a:t>
            </a:r>
          </a:p>
          <a:p>
            <a:pPr>
              <a:spcAft>
                <a:spcPts val="400"/>
              </a:spcAft>
              <a:defRPr sz="1800"/>
            </a:pPr>
            <a:r>
              <a:t>   Bottom-right: Squared residuals — volatility clustering clear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Key takeaway: residuals are heteroskedastic and fat-tailed</a:t>
            </a:r>
          </a:p>
          <a:p>
            <a:pPr>
              <a:spcAft>
                <a:spcPts val="400"/>
              </a:spcAft>
              <a:defRPr sz="1800"/>
            </a:pPr>
            <a:r>
              <a:t>   → OLS standard errors unreliable</a:t>
            </a:r>
          </a:p>
          <a:p>
            <a:pPr>
              <a:spcAft>
                <a:spcPts val="400"/>
              </a:spcAft>
              <a:defRPr sz="1800"/>
            </a:pPr>
            <a:r>
              <a:t>   → Need HAC and GARCH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C3E50"/>
                </a:solidFill>
              </a:rPr>
              <a:t>GARCH Volatility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t>Compared: GARCH(1,1) vs EGARCH(1,1) vs GJR-GARCH(1,1)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Monthly → GJR-GARCH(1,1) selected (lowest AIC = 3013)</a:t>
            </a:r>
          </a:p>
          <a:p>
            <a:pPr>
              <a:spcAft>
                <a:spcPts val="400"/>
              </a:spcAft>
              <a:defRPr sz="1800"/>
            </a:pPr>
            <a:r>
              <a:t>   Persistence = 0.876 — volatility shocks are persistent</a:t>
            </a:r>
          </a:p>
          <a:p>
            <a:pPr>
              <a:spcAft>
                <a:spcPts val="400"/>
              </a:spcAft>
              <a:defRPr sz="1800"/>
            </a:pPr>
            <a:r>
              <a:t>   Student-t df ≈ 11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Weekly → GARCH(1,1) by AIC, but EGARCH passes ARCH-LM (p=0.65)</a:t>
            </a:r>
          </a:p>
          <a:p>
            <a:pPr>
              <a:spcAft>
                <a:spcPts val="400"/>
              </a:spcAft>
              <a:defRPr sz="1800"/>
            </a:pPr>
            <a:r>
              <a:t>   Persistence = 0.644 — lower than monthly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GARCH reveals: even though RETURNS are unpredictable,</a:t>
            </a:r>
          </a:p>
          <a:p>
            <a:pPr>
              <a:spcAft>
                <a:spcPts val="400"/>
              </a:spcAft>
              <a:defRPr sz="1800"/>
            </a:pPr>
            <a:r>
              <a:t>VOLATILITY is predictable and persistent</a:t>
            </a:r>
          </a:p>
          <a:p>
            <a:pPr>
              <a:spcAft>
                <a:spcPts val="400"/>
              </a:spcAft>
              <a:defRPr sz="1800"/>
            </a:pPr>
            <a:r>
              <a:t>→ Practical value for risk management and hedging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[INSERT: Conditional volatility plot — note 2008, COVID spikes]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C3E50"/>
                </a:solidFill>
              </a:rPr>
              <a:t>Monthly vs. Weekly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t>Metric                   Monthly         Weekly</a:t>
            </a:r>
          </a:p>
          <a:p>
            <a:pPr>
              <a:spcAft>
                <a:spcPts val="400"/>
              </a:spcAft>
              <a:defRPr sz="1800"/>
            </a:pPr>
            <a:r>
              <a:t>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400"/>
              </a:spcAft>
              <a:defRPr sz="1800"/>
            </a:pPr>
            <a:r>
              <a:t>Observations             419              972</a:t>
            </a:r>
          </a:p>
          <a:p>
            <a:pPr>
              <a:spcAft>
                <a:spcPts val="400"/>
              </a:spcAft>
              <a:defRPr sz="1800"/>
            </a:pPr>
            <a:r>
              <a:t>OLS Adj. R² (lagged)     5.3%             1.7%</a:t>
            </a:r>
          </a:p>
          <a:p>
            <a:pPr>
              <a:spcAft>
                <a:spcPts val="400"/>
              </a:spcAft>
              <a:defRPr sz="1800"/>
            </a:pPr>
            <a:r>
              <a:t>ARCH-LM (OLS)            p = 0.000        p = 0.000</a:t>
            </a:r>
          </a:p>
          <a:p>
            <a:pPr>
              <a:spcAft>
                <a:spcPts val="400"/>
              </a:spcAft>
              <a:defRPr sz="1800"/>
            </a:pPr>
            <a:r>
              <a:t>GARCH selected           GJR-GARCH        GARCH(1,1)</a:t>
            </a:r>
          </a:p>
          <a:p>
            <a:pPr>
              <a:spcAft>
                <a:spcPts val="400"/>
              </a:spcAft>
              <a:defRPr sz="1800"/>
            </a:pPr>
            <a:r>
              <a:t>Vol. persistence         0.876            0.644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Key points:</a:t>
            </a:r>
          </a:p>
          <a:p>
            <a:pPr>
              <a:spcAft>
                <a:spcPts val="400"/>
              </a:spcAft>
              <a:defRPr sz="1800"/>
            </a:pPr>
            <a:r>
              <a:t>   → Both show low R² — consistent with efficient markets</a:t>
            </a:r>
          </a:p>
          <a:p>
            <a:pPr>
              <a:spcAft>
                <a:spcPts val="400"/>
              </a:spcAft>
              <a:defRPr sz="1800"/>
            </a:pPr>
            <a:r>
              <a:t>   → 10Y Treasury significant at both → robust lagged signal</a:t>
            </a:r>
          </a:p>
          <a:p>
            <a:pPr>
              <a:spcAft>
                <a:spcPts val="400"/>
              </a:spcAft>
              <a:defRPr sz="1800"/>
            </a:pPr>
            <a:r>
              <a:t>   → ARCH effects strong at both → volatility is predictable</a:t>
            </a:r>
          </a:p>
          <a:p>
            <a:pPr>
              <a:spcAft>
                <a:spcPts val="400"/>
              </a:spcAft>
              <a:defRPr sz="1800"/>
            </a:pPr>
            <a:r>
              <a:t>   → Monthly persistence higher — shocks last longer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2C3E5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800"/>
            </a:pPr>
            <a:r>
              <a:t>Hypothesis: partially supported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Mean returns are largely unpredictable from lagged data</a:t>
            </a:r>
          </a:p>
          <a:p>
            <a:pPr>
              <a:spcAft>
                <a:spcPts val="400"/>
              </a:spcAft>
              <a:defRPr sz="1800"/>
            </a:pPr>
            <a:r>
              <a:t>   → R² ≈ 5% monthly, 2% weekly</a:t>
            </a:r>
          </a:p>
          <a:p>
            <a:pPr>
              <a:spcAft>
                <a:spcPts val="400"/>
              </a:spcAft>
              <a:defRPr sz="1800"/>
            </a:pPr>
            <a:r>
              <a:t>   → Consistent with semi-strong form market efficiency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But VOLATILITY is highly predictable and persistent</a:t>
            </a:r>
          </a:p>
          <a:p>
            <a:pPr>
              <a:spcAft>
                <a:spcPts val="400"/>
              </a:spcAft>
              <a:defRPr sz="1800"/>
            </a:pPr>
            <a:r>
              <a:t>   → GARCH captures volatility clustering and asymmetry</a:t>
            </a:r>
          </a:p>
          <a:p>
            <a:pPr>
              <a:spcAft>
                <a:spcPts val="400"/>
              </a:spcAft>
              <a:defRPr sz="1800"/>
            </a:pPr>
            <a:r>
              <a:t>   → Practical value: forecast RISK magnitude for hedging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10Y Treasury yield is the most robust lagged predictor</a:t>
            </a:r>
          </a:p>
          <a:p>
            <a:pPr>
              <a:spcAft>
                <a:spcPts val="400"/>
              </a:spcAft>
              <a:defRPr sz="1800"/>
            </a:pPr>
          </a:p>
          <a:p>
            <a:pPr>
              <a:spcAft>
                <a:spcPts val="400"/>
              </a:spcAft>
              <a:defRPr sz="1800"/>
            </a:pPr>
            <a:r>
              <a:t>Future: out-of-sample volatility forecasting,</a:t>
            </a:r>
          </a:p>
          <a:p>
            <a:pPr>
              <a:spcAft>
                <a:spcPts val="400"/>
              </a:spcAft>
              <a:defRPr sz="1800"/>
            </a:pPr>
            <a:r>
              <a:t>   structural breaks (2008, COVID), regime-switching GARCH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