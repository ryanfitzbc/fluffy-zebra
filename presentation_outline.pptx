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/>
              <a:t>Predicting WTI Crude Oil Price Changes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Volatility as the Transmission Channel</a:t>
            </a:r>
          </a:p>
          <a:p/>
          <a:p>
            <a:r>
              <a:t>MFIN8852.01 — Financial Econometrics</a:t>
            </a:r>
          </a:p>
          <a:p>
            <a:r>
              <a:t>[Your Name(s)]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2C3E50"/>
                </a:solidFill>
              </a:rPr>
              <a:t>Hypothesis &amp;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800"/>
            </a:pPr>
            <a:r>
              <a:t>Theory: Geopolitical threats + macro uncertainty → VOLATILITY → price changes</a:t>
            </a:r>
          </a:p>
          <a:p>
            <a:pPr>
              <a:spcAft>
                <a:spcPts val="400"/>
              </a:spcAft>
              <a:defRPr sz="1800"/>
            </a:pPr>
            <a:r>
              <a:t>   High vol = prices spike (supply risk premia)</a:t>
            </a:r>
          </a:p>
          <a:p>
            <a:pPr>
              <a:spcAft>
                <a:spcPts val="400"/>
              </a:spcAft>
              <a:defRPr sz="1800"/>
            </a:pPr>
            <a:r>
              <a:t>   Low vol = prices drift down (stable expectations)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Monthly: 419 obs  |  Weekly: 972 obs  |  Dec 1990 – Dec 2025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Mixed lag structure:</a:t>
            </a:r>
          </a:p>
          <a:p>
            <a:pPr>
              <a:spcAft>
                <a:spcPts val="400"/>
              </a:spcAft>
              <a:defRPr sz="1800"/>
            </a:pPr>
            <a:r>
              <a:t>   Contemporaneous: heating oil, nat gas (same supply chain — expected)</a:t>
            </a:r>
          </a:p>
          <a:p>
            <a:pPr>
              <a:spcAft>
                <a:spcPts val="400"/>
              </a:spcAft>
              <a:defRPr sz="1800"/>
            </a:pPr>
            <a:r>
              <a:t>   Lagged (t-1): financials, macro, geopolitical (the real test)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[INSERT: Correlation heatmap + WTI returns with event markers]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2C3E50"/>
                </a:solidFill>
              </a:rPr>
              <a:t>OLS Results — Mixed Lag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800"/>
            </a:pPr>
            <a:r>
              <a:t>Monthly:  Adj. R² = 0.7435  (74.4%)</a:t>
            </a:r>
          </a:p>
          <a:p>
            <a:pPr>
              <a:spcAft>
                <a:spcPts val="400"/>
              </a:spcAft>
              <a:defRPr sz="1800"/>
            </a:pPr>
            <a:r>
              <a:t>   Energy (contemp., expected): heatoil_chg_pct</a:t>
            </a:r>
          </a:p>
          <a:p>
            <a:pPr>
              <a:spcAft>
                <a:spcPts val="400"/>
              </a:spcAft>
              <a:defRPr sz="1800"/>
            </a:pPr>
            <a:r>
              <a:t>   Predictive (lagged): spr_inv_chg, refin_util_rate, crude_stk_excl_spr, indpro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Weekly:   Adj. R² = 0.6488  (64.9%)</a:t>
            </a:r>
          </a:p>
          <a:p>
            <a:pPr>
              <a:spcAft>
                <a:spcPts val="400"/>
              </a:spcAft>
              <a:defRPr sz="1800"/>
            </a:pPr>
            <a:r>
              <a:t>   Energy (contemp.): heatoil_chg_pct</a:t>
            </a:r>
          </a:p>
          <a:p>
            <a:pPr>
              <a:spcAft>
                <a:spcPts val="400"/>
              </a:spcAft>
              <a:defRPr sz="1800"/>
            </a:pPr>
            <a:r>
              <a:t>   Predictive (lagged): copper_chg_pct, brent_chg_pct, ovx_chg_pct, rbob_chg_pct...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Most R² comes from energy co-movement (expected, uninteresting)</a:t>
            </a:r>
          </a:p>
          <a:p>
            <a:pPr>
              <a:spcAft>
                <a:spcPts val="400"/>
              </a:spcAft>
              <a:defRPr sz="1800"/>
            </a:pPr>
            <a:r>
              <a:t>The lagged predictors are the real contribution:</a:t>
            </a:r>
          </a:p>
          <a:p>
            <a:pPr>
              <a:spcAft>
                <a:spcPts val="400"/>
              </a:spcAft>
              <a:defRPr sz="1800"/>
            </a:pPr>
            <a:r>
              <a:t>   SPR inventory, crude stocks, industrial production, refinery util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2C3E50"/>
                </a:solidFill>
              </a:rPr>
              <a:t>Testing the 5 CLRM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800"/>
            </a:pPr>
            <a:r>
              <a:t>#   Assumption              Test              Monthly        Weekly</a:t>
            </a:r>
          </a:p>
          <a:p>
            <a:pPr>
              <a:spcAft>
                <a:spcPts val="400"/>
              </a:spcAft>
              <a:defRPr sz="1800"/>
            </a:pPr>
            <a:r>
              <a:t>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800"/>
            </a:pPr>
            <a:r>
              <a:t>1   E(εₜ) = 0               Constant          OK             OK</a:t>
            </a:r>
          </a:p>
          <a:p>
            <a:pPr>
              <a:spcAft>
                <a:spcPts val="400"/>
              </a:spcAft>
              <a:defRPr sz="1800"/>
            </a:pPr>
            <a:r>
              <a:t>2   Var(εₜ) = σ²            Breusch-Pagan     p=0.0000       p=0.0010</a:t>
            </a:r>
          </a:p>
          <a:p>
            <a:pPr>
              <a:spcAft>
                <a:spcPts val="400"/>
              </a:spcAft>
              <a:defRPr sz="1800"/>
            </a:pPr>
            <a:r>
              <a:t>3   Cov(εᵢ,εⱼ) = 0         DW / BG           DW=1.882       DW=2.112</a:t>
            </a:r>
          </a:p>
          <a:p>
            <a:pPr>
              <a:spcAft>
                <a:spcPts val="400"/>
              </a:spcAft>
              <a:defRPr sz="1800"/>
            </a:pPr>
            <a:r>
              <a:t>4   Cov(xₜ,εₜ) = 0         Lagged X          OK by design   OK by design</a:t>
            </a:r>
          </a:p>
          <a:p>
            <a:pPr>
              <a:spcAft>
                <a:spcPts val="400"/>
              </a:spcAft>
              <a:defRPr sz="1800"/>
            </a:pPr>
            <a:r>
              <a:t>5   εₜ ~ N(0,σ²)           Jarque-Bera       JB=1431.5      VIOLATED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ARCH-LM: Monthly p=0.0000, Weekly p=0.0000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Fixes: HAC std errors + GARCH with Student-t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2C3E50"/>
                </a:solidFill>
              </a:rPr>
              <a:t>GARCH — Volatility is Predictable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800"/>
            </a:pPr>
            <a:r>
              <a:t>Monthly: GJR-GARCH(1,1) selected (AIC = 2404.1)</a:t>
            </a:r>
          </a:p>
          <a:p>
            <a:pPr>
              <a:spcAft>
                <a:spcPts val="400"/>
              </a:spcAft>
              <a:defRPr sz="1800"/>
            </a:pPr>
            <a:r>
              <a:t>   Persistence = 0.8109 — shocks are persistent</a:t>
            </a:r>
          </a:p>
          <a:p>
            <a:pPr>
              <a:spcAft>
                <a:spcPts val="400"/>
              </a:spcAft>
              <a:defRPr sz="1800"/>
            </a:pPr>
            <a:r>
              <a:t>   Student-t df ≈ 4.2 — fat tails confirmed</a:t>
            </a:r>
          </a:p>
          <a:p>
            <a:pPr>
              <a:spcAft>
                <a:spcPts val="400"/>
              </a:spcAft>
              <a:defRPr sz="1800"/>
            </a:pPr>
            <a:r>
              <a:t>   GJR asymmetry: negative shocks → MORE volatility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Weekly: GARCH(1,1) selected</a:t>
            </a:r>
          </a:p>
          <a:p>
            <a:pPr>
              <a:spcAft>
                <a:spcPts val="400"/>
              </a:spcAft>
              <a:defRPr sz="1800"/>
            </a:pPr>
            <a:r>
              <a:t>   Persistence = 0.9281</a:t>
            </a:r>
          </a:p>
          <a:p>
            <a:pPr>
              <a:spcAft>
                <a:spcPts val="400"/>
              </a:spcAft>
              <a:defRPr sz="1800"/>
            </a:pPr>
            <a:r>
              <a:t>   Passes post-ARCH-LM (p=0.2272) — adequate fit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This supports the hypothesis:</a:t>
            </a:r>
          </a:p>
          <a:p>
            <a:pPr>
              <a:spcAft>
                <a:spcPts val="400"/>
              </a:spcAft>
              <a:defRPr sz="1800"/>
            </a:pPr>
            <a:r>
              <a:t>   Geopolitical events generate volatility spikes that persist</a:t>
            </a:r>
          </a:p>
          <a:p>
            <a:pPr>
              <a:spcAft>
                <a:spcPts val="400"/>
              </a:spcAft>
              <a:defRPr sz="1800"/>
            </a:pPr>
            <a:r>
              <a:t>   → the GARCH variance equation captures this transmission channel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[INSERT: Conditional volatility plot with Desert Storm, 9/11, 2008, COVID, Ukraine]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2C3E50"/>
                </a:solidFill>
              </a:rPr>
              <a:t>Structural Break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800"/>
            </a:pPr>
            <a:r>
              <a:t>Sub-period regressions show parameter instability: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   Pre-9/11 (1991-2001)          R²=0.6964  → heatoil, indpro</a:t>
            </a:r>
          </a:p>
          <a:p>
            <a:pPr>
              <a:spcAft>
                <a:spcPts val="400"/>
              </a:spcAft>
              <a:defRPr sz="1800"/>
            </a:pPr>
            <a:r>
              <a:t>   Post-9/11 to Crisis           R²=0.8313  → heatoil</a:t>
            </a:r>
          </a:p>
          <a:p>
            <a:pPr>
              <a:spcAft>
                <a:spcPts val="400"/>
              </a:spcAft>
              <a:defRPr sz="1800"/>
            </a:pPr>
            <a:r>
              <a:t>   Financial Crisis (2008-10)    R²=0.8756  → heatoil, spr_inv_chg</a:t>
            </a:r>
          </a:p>
          <a:p>
            <a:pPr>
              <a:spcAft>
                <a:spcPts val="400"/>
              </a:spcAft>
              <a:defRPr sz="1800"/>
            </a:pPr>
            <a:r>
              <a:t>   Recovery+Shale (2011-19)      R²=0.7635  → heatoil, indpro</a:t>
            </a:r>
          </a:p>
          <a:p>
            <a:pPr>
              <a:spcAft>
                <a:spcPts val="400"/>
              </a:spcAft>
              <a:defRPr sz="1800"/>
            </a:pPr>
            <a:r>
              <a:t>   COVID+Ukraine (2020-25)       R²=0.7949  → heatoil, refin_util_rate, crude_stk_excl_spr, indpro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Heating oil always significant (expected co-movement)</a:t>
            </a:r>
          </a:p>
          <a:p>
            <a:pPr>
              <a:spcAft>
                <a:spcPts val="400"/>
              </a:spcAft>
              <a:defRPr sz="1800"/>
            </a:pPr>
            <a:r>
              <a:t>Lagged predictors shift: INDPRO in calm periods, SPR during crises,</a:t>
            </a:r>
          </a:p>
          <a:p>
            <a:pPr>
              <a:spcAft>
                <a:spcPts val="400"/>
              </a:spcAft>
              <a:defRPr sz="1800"/>
            </a:pPr>
            <a:r>
              <a:t>   crude stocks + refinery util in COVID/Ukraine era</a:t>
            </a:r>
          </a:p>
          <a:p>
            <a:pPr>
              <a:spcAft>
                <a:spcPts val="400"/>
              </a:spcAft>
              <a:defRPr sz="1800"/>
            </a:pPr>
            <a:r>
              <a:t>→ Different regimes activate different channels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2C3E50"/>
                </a:solidFill>
              </a:rPr>
              <a:t>Out-of-Sample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800"/>
            </a:pPr>
            <a:r>
              <a:t>Train: 212 obs (1991 – Aug 2008)   Test: 208 obs (Sep 2008 – Dec 2025)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   RMSE:               0.0760</a:t>
            </a:r>
          </a:p>
          <a:p>
            <a:pPr>
              <a:spcAft>
                <a:spcPts val="400"/>
              </a:spcAft>
              <a:defRPr sz="1800"/>
            </a:pPr>
            <a:r>
              <a:t>   MAE:                0.0406</a:t>
            </a:r>
          </a:p>
          <a:p>
            <a:pPr>
              <a:spcAft>
                <a:spcPts val="400"/>
              </a:spcAft>
              <a:defRPr sz="1800"/>
            </a:pPr>
            <a:r>
              <a:t>   Direction accuracy: 88.0%</a:t>
            </a:r>
          </a:p>
          <a:p>
            <a:pPr>
              <a:spcAft>
                <a:spcPts val="400"/>
              </a:spcAft>
              <a:defRPr sz="1800"/>
            </a:pPr>
            <a:r>
              <a:t>   Out-of-sample R²:   0.5653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Model trained on pre-crisis data generalizes to crisis + post-crisis</a:t>
            </a:r>
          </a:p>
          <a:p>
            <a:pPr>
              <a:spcAft>
                <a:spcPts val="400"/>
              </a:spcAft>
              <a:defRPr sz="1800"/>
            </a:pPr>
            <a:r>
              <a:t>88% direction accuracy is genuinely strong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[INSERT: Actual vs Predicted plot]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2C3E50"/>
                </a:solidFill>
              </a:rPr>
              <a:t>Monthly vs. Weekly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800"/>
            </a:pPr>
            <a:r>
              <a:t>Metric                              Monthly       Weekly</a:t>
            </a:r>
          </a:p>
          <a:p>
            <a:pPr>
              <a:spcAft>
                <a:spcPts val="400"/>
              </a:spcAft>
              <a:defRPr sz="1800"/>
            </a:pPr>
            <a:r>
              <a:t>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800"/>
            </a:pPr>
            <a:r>
              <a:t>Observations                            419          972</a:t>
            </a:r>
          </a:p>
          <a:p>
            <a:pPr>
              <a:spcAft>
                <a:spcPts val="400"/>
              </a:spcAft>
              <a:defRPr sz="1800"/>
            </a:pPr>
            <a:r>
              <a:t>OLS Adj. R²                          0.7435       0.6488</a:t>
            </a:r>
          </a:p>
          <a:p>
            <a:pPr>
              <a:spcAft>
                <a:spcPts val="400"/>
              </a:spcAft>
              <a:defRPr sz="1800"/>
            </a:pPr>
            <a:r>
              <a:t>ARCH-LM p                            0.0000       0.0000</a:t>
            </a:r>
          </a:p>
          <a:p>
            <a:pPr>
              <a:spcAft>
                <a:spcPts val="400"/>
              </a:spcAft>
              <a:defRPr sz="1800"/>
            </a:pPr>
            <a:r>
              <a:t>GARCH                          GJR-GARCH(1,1)   GARCH(1,1)</a:t>
            </a:r>
          </a:p>
          <a:p>
            <a:pPr>
              <a:spcAft>
                <a:spcPts val="400"/>
              </a:spcAft>
              <a:defRPr sz="1800"/>
            </a:pPr>
            <a:r>
              <a:t>Persistence                          0.8109       0.9281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Heating oil significant at both → robust energy link</a:t>
            </a:r>
          </a:p>
          <a:p>
            <a:pPr>
              <a:spcAft>
                <a:spcPts val="400"/>
              </a:spcAft>
              <a:defRPr sz="1800"/>
            </a:pPr>
            <a:r>
              <a:t>ARCH effects strong at both → volatility is the story</a:t>
            </a:r>
          </a:p>
          <a:p>
            <a:pPr>
              <a:spcAft>
                <a:spcPts val="400"/>
              </a:spcAft>
              <a:defRPr sz="1800"/>
            </a:pPr>
            <a:r>
              <a:t>Monthly persistence lower — weekly vol shocks are stickier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2C3E50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800"/>
            </a:pPr>
            <a:r>
              <a:t>Hypothesis supported: volatility is the transmission channel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1. Energy co-movement explains most R² (expected, not interesting)</a:t>
            </a:r>
          </a:p>
          <a:p>
            <a:pPr>
              <a:spcAft>
                <a:spcPts val="400"/>
              </a:spcAft>
              <a:defRPr sz="1800"/>
            </a:pPr>
            <a:r>
              <a:t>2. Lagged supply fundamentals provide genuine predictive signal</a:t>
            </a:r>
          </a:p>
          <a:p>
            <a:pPr>
              <a:spcAft>
                <a:spcPts val="400"/>
              </a:spcAft>
              <a:defRPr sz="1800"/>
            </a:pPr>
            <a:r>
              <a:t>3. GARCH shows volatility is persistent and forecastable</a:t>
            </a:r>
          </a:p>
          <a:p>
            <a:pPr>
              <a:spcAft>
                <a:spcPts val="400"/>
              </a:spcAft>
              <a:defRPr sz="1800"/>
            </a:pPr>
            <a:r>
              <a:t>4. GJR asymmetry: negative shocks → bigger vol (supply disruption risk)</a:t>
            </a:r>
          </a:p>
          <a:p>
            <a:pPr>
              <a:spcAft>
                <a:spcPts val="400"/>
              </a:spcAft>
              <a:defRPr sz="1800"/>
            </a:pPr>
            <a:r>
              <a:t>5. Out-of-sample: 88% direction accuracy across crisis periods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Practical: Use GARCH to forecast RISK, not OLS to forecast RETURNS</a:t>
            </a:r>
          </a:p>
          <a:p>
            <a:pPr>
              <a:spcAft>
                <a:spcPts val="400"/>
              </a:spcAft>
              <a:defRPr sz="1800"/>
            </a:pPr>
            <a:r>
              <a:t>   The variance equation is where the actionable signal lives</a:t>
            </a:r>
          </a:p>
          <a:p>
            <a:pPr>
              <a:spcAft>
                <a:spcPts val="400"/>
              </a:spcAft>
              <a:defRPr sz="1800"/>
            </a:pPr>
          </a:p>
          <a:p>
            <a:pPr>
              <a:spcAft>
                <a:spcPts val="400"/>
              </a:spcAft>
              <a:defRPr sz="1800"/>
            </a:pPr>
            <a:r>
              <a:t>Future: regime-switching GARCH, VAR, OPEC data, Chow/CUSUM tests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